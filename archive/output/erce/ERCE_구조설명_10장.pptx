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합리적인 비용추계 초안을 만드는 시스템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법안에 없는 숫자는 가정이 필요합니다. ERCE는 그 가정과 근거를 드러냅니다.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01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377440"/>
            <a:ext cx="3383280" cy="23774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578608"/>
            <a:ext cx="298094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법안 PDF</a:t>
            </a:r>
            <a:endParaRPr lang="ko-KR" sz="2000"/>
          </a:p>
        </p:txBody>
      </p:sp>
      <p:sp>
        <p:nvSpPr>
          <p:cNvPr id="10" name="Text 10"/>
          <p:cNvSpPr txBox="1"/>
          <p:nvPr/>
        </p:nvSpPr>
        <p:spPr>
          <a:xfrm>
            <a:off x="795528" y="3246120"/>
            <a:ext cx="2980944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변경된 제도와 의무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지급액·대상 조건 등 명시값</a:t>
            </a:r>
            <a:endParaRPr lang="ko-KR" sz="1400"/>
          </a:p>
        </p:txBody>
      </p:sp>
      <p:cxnSp>
        <p:nvCxnSpPr>
          <p:cNvPr id="11" name="Arrow 11"/>
          <p:cNvCxnSpPr/>
          <p:nvPr/>
        </p:nvCxnSpPr>
        <p:spPr>
          <a:xfrm>
            <a:off x="4050792" y="3474720"/>
            <a:ext cx="228600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2" name="Card 12"/>
          <p:cNvSpPr/>
          <p:nvPr/>
        </p:nvSpPr>
        <p:spPr>
          <a:xfrm>
            <a:off x="4407408" y="2377440"/>
            <a:ext cx="3383280" cy="23774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608576" y="2578608"/>
            <a:ext cx="298094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ERCE</a:t>
            </a:r>
            <a:endParaRPr lang="ko-KR" sz="2000"/>
          </a:p>
        </p:txBody>
      </p:sp>
      <p:sp>
        <p:nvSpPr>
          <p:cNvPr id="14" name="Text 14"/>
          <p:cNvSpPr txBox="1"/>
          <p:nvPr/>
        </p:nvSpPr>
        <p:spPr>
          <a:xfrm>
            <a:off x="4608576" y="3246120"/>
            <a:ext cx="2980944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항목별 계산 유형 선택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등록 산식 + 단가·통계·선례</a:t>
            </a:r>
            <a:endParaRPr lang="ko-KR" sz="1400"/>
          </a:p>
        </p:txBody>
      </p:sp>
      <p:cxnSp>
        <p:nvCxnSpPr>
          <p:cNvPr id="15" name="Arrow 15"/>
          <p:cNvCxnSpPr/>
          <p:nvPr/>
        </p:nvCxnSpPr>
        <p:spPr>
          <a:xfrm>
            <a:off x="7863840" y="3474720"/>
            <a:ext cx="228600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6" name="Card 16"/>
          <p:cNvSpPr/>
          <p:nvPr/>
        </p:nvSpPr>
        <p:spPr>
          <a:xfrm>
            <a:off x="8211312" y="2377440"/>
            <a:ext cx="3383280" cy="237744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412480" y="2578608"/>
            <a:ext cx="298094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FFFFFF"/>
                </a:solidFill>
                <a:latin typeface="맑은 고딕"/>
                <a:ea typeface="맑은 고딕"/>
              </a:rPr>
              <a:t>비용추계서 초안</a:t>
            </a:r>
            <a:endParaRPr lang="ko-KR" sz="2000"/>
          </a:p>
        </p:txBody>
      </p:sp>
      <p:sp>
        <p:nvSpPr>
          <p:cNvPr id="18" name="Text 18"/>
          <p:cNvSpPr txBox="1"/>
          <p:nvPr/>
        </p:nvSpPr>
        <p:spPr>
          <a:xfrm>
            <a:off x="8412480" y="3246120"/>
            <a:ext cx="2980944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연도별 비용과 계산 내역</a:t>
            </a:r>
            <a:endParaRPr lang="ko-KR" sz="1400"/>
          </a:p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검토 가능한 가정과 출처</a:t>
            </a:r>
            <a:endParaRPr lang="ko-KR" sz="1400"/>
          </a:p>
        </p:txBody>
      </p:sp>
      <p:sp>
        <p:nvSpPr>
          <p:cNvPr id="19" name="Card 19"/>
          <p:cNvSpPr/>
          <p:nvPr/>
        </p:nvSpPr>
        <p:spPr>
          <a:xfrm>
            <a:off x="594360" y="5193792"/>
            <a:ext cx="11000232" cy="822960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22960" y="5340096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계산에 필요한 가정을 근거와 함께 제시하고, 사람이 확인할 수 있게 합니다.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어떤 순서로 진행되나요?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AI가 입력을 준비하고, Python이 금액을 계산합니다.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02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1520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01</a:t>
            </a:r>
            <a:endParaRPr lang="ko-KR" sz="1200"/>
          </a:p>
        </p:txBody>
      </p:sp>
      <p:sp>
        <p:nvSpPr>
          <p:cNvPr id="10" name="Text 10"/>
          <p:cNvSpPr txBox="1"/>
          <p:nvPr/>
        </p:nvSpPr>
        <p:spPr>
          <a:xfrm>
            <a:off x="731520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법안 분석</a:t>
            </a:r>
            <a:endParaRPr lang="ko-KR" sz="1800"/>
          </a:p>
        </p:txBody>
      </p:sp>
      <p:sp>
        <p:nvSpPr>
          <p:cNvPr id="11" name="Text 11"/>
          <p:cNvSpPr txBox="1"/>
          <p:nvPr/>
        </p:nvSpPr>
        <p:spPr>
          <a:xfrm>
            <a:off x="731520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변경 조문과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비용 항목 확인</a:t>
            </a:r>
            <a:endParaRPr lang="ko-KR" sz="1200"/>
          </a:p>
        </p:txBody>
      </p:sp>
      <p:cxnSp>
        <p:nvCxnSpPr>
          <p:cNvPr id="12" name="Arrow 12"/>
          <p:cNvCxnSpPr/>
          <p:nvPr/>
        </p:nvCxnSpPr>
        <p:spPr>
          <a:xfrm>
            <a:off x="2295144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3" name="Card 13"/>
          <p:cNvSpPr/>
          <p:nvPr/>
        </p:nvSpPr>
        <p:spPr>
          <a:xfrm>
            <a:off x="2459736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2596896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02</a:t>
            </a:r>
            <a:endParaRPr lang="ko-KR" sz="1200"/>
          </a:p>
        </p:txBody>
      </p:sp>
      <p:sp>
        <p:nvSpPr>
          <p:cNvPr id="15" name="Text 15"/>
          <p:cNvSpPr txBox="1"/>
          <p:nvPr/>
        </p:nvSpPr>
        <p:spPr>
          <a:xfrm>
            <a:off x="2596896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라우팅</a:t>
            </a:r>
            <a:endParaRPr lang="ko-KR" sz="1800"/>
          </a:p>
        </p:txBody>
      </p:sp>
      <p:sp>
        <p:nvSpPr>
          <p:cNvPr id="16" name="Text 16"/>
          <p:cNvSpPr txBox="1"/>
          <p:nvPr/>
        </p:nvSpPr>
        <p:spPr>
          <a:xfrm>
            <a:off x="2596896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등록된 세부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계산 유형 선택</a:t>
            </a:r>
            <a:endParaRPr lang="ko-KR" sz="1200"/>
          </a:p>
        </p:txBody>
      </p:sp>
      <p:cxnSp>
        <p:nvCxnSpPr>
          <p:cNvPr id="17" name="Arrow 17"/>
          <p:cNvCxnSpPr/>
          <p:nvPr/>
        </p:nvCxnSpPr>
        <p:spPr>
          <a:xfrm>
            <a:off x="4160520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8" name="Card 18"/>
          <p:cNvSpPr/>
          <p:nvPr/>
        </p:nvSpPr>
        <p:spPr>
          <a:xfrm>
            <a:off x="4325112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462272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03</a:t>
            </a:r>
            <a:endParaRPr lang="ko-KR" sz="1200"/>
          </a:p>
        </p:txBody>
      </p:sp>
      <p:sp>
        <p:nvSpPr>
          <p:cNvPr id="20" name="Text 20"/>
          <p:cNvSpPr txBox="1"/>
          <p:nvPr/>
        </p:nvSpPr>
        <p:spPr>
          <a:xfrm>
            <a:off x="4462272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산식 적용</a:t>
            </a:r>
            <a:endParaRPr lang="ko-KR" sz="1800"/>
          </a:p>
        </p:txBody>
      </p:sp>
      <p:sp>
        <p:nvSpPr>
          <p:cNvPr id="21" name="Text 21"/>
          <p:cNvSpPr txBox="1"/>
          <p:nvPr/>
        </p:nvSpPr>
        <p:spPr>
          <a:xfrm>
            <a:off x="4462272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유형에 연결된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산식 사용</a:t>
            </a:r>
            <a:endParaRPr lang="ko-KR" sz="1200"/>
          </a:p>
        </p:txBody>
      </p:sp>
      <p:cxnSp>
        <p:nvCxnSpPr>
          <p:cNvPr id="22" name="Arrow 22"/>
          <p:cNvCxnSpPr/>
          <p:nvPr/>
        </p:nvCxnSpPr>
        <p:spPr>
          <a:xfrm>
            <a:off x="6025896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3" name="Card 23"/>
          <p:cNvSpPr/>
          <p:nvPr/>
        </p:nvSpPr>
        <p:spPr>
          <a:xfrm>
            <a:off x="6190488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327648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04</a:t>
            </a:r>
            <a:endParaRPr lang="ko-KR" sz="1200"/>
          </a:p>
        </p:txBody>
      </p:sp>
      <p:sp>
        <p:nvSpPr>
          <p:cNvPr id="25" name="Text 25"/>
          <p:cNvSpPr txBox="1"/>
          <p:nvPr/>
        </p:nvSpPr>
        <p:spPr>
          <a:xfrm>
            <a:off x="6327648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변수 선택</a:t>
            </a:r>
            <a:endParaRPr lang="ko-KR" sz="1800"/>
          </a:p>
        </p:txBody>
      </p:sp>
      <p:sp>
        <p:nvSpPr>
          <p:cNvPr id="26" name="Text 26"/>
          <p:cNvSpPr txBox="1"/>
          <p:nvPr/>
        </p:nvSpPr>
        <p:spPr>
          <a:xfrm>
            <a:off x="6327648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원문·단가·통계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적용 근거 확인</a:t>
            </a:r>
            <a:endParaRPr lang="ko-KR" sz="1200"/>
          </a:p>
        </p:txBody>
      </p:sp>
      <p:cxnSp>
        <p:nvCxnSpPr>
          <p:cNvPr id="27" name="Arrow 27"/>
          <p:cNvCxnSpPr/>
          <p:nvPr/>
        </p:nvCxnSpPr>
        <p:spPr>
          <a:xfrm>
            <a:off x="7891272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8" name="Card 28"/>
          <p:cNvSpPr/>
          <p:nvPr/>
        </p:nvSpPr>
        <p:spPr>
          <a:xfrm>
            <a:off x="8055864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193024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05</a:t>
            </a:r>
            <a:endParaRPr lang="ko-KR" sz="1200"/>
          </a:p>
        </p:txBody>
      </p:sp>
      <p:sp>
        <p:nvSpPr>
          <p:cNvPr id="30" name="Text 30"/>
          <p:cNvSpPr txBox="1"/>
          <p:nvPr/>
        </p:nvSpPr>
        <p:spPr>
          <a:xfrm>
            <a:off x="8193024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금액 계산</a:t>
            </a:r>
            <a:endParaRPr lang="ko-KR" sz="1800"/>
          </a:p>
        </p:txBody>
      </p:sp>
      <p:sp>
        <p:nvSpPr>
          <p:cNvPr id="31" name="Text 31"/>
          <p:cNvSpPr txBox="1"/>
          <p:nvPr/>
        </p:nvSpPr>
        <p:spPr>
          <a:xfrm>
            <a:off x="8193024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연도별 산출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항목별 합산</a:t>
            </a:r>
            <a:endParaRPr lang="ko-KR" sz="1200"/>
          </a:p>
        </p:txBody>
      </p:sp>
      <p:cxnSp>
        <p:nvCxnSpPr>
          <p:cNvPr id="32" name="Arrow 32"/>
          <p:cNvCxnSpPr/>
          <p:nvPr/>
        </p:nvCxnSpPr>
        <p:spPr>
          <a:xfrm>
            <a:off x="9756648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33" name="Card 33"/>
          <p:cNvSpPr/>
          <p:nvPr/>
        </p:nvSpPr>
        <p:spPr>
          <a:xfrm>
            <a:off x="9921240" y="2560320"/>
            <a:ext cx="1673352" cy="196596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10058400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  <a:endParaRPr lang="ko-KR" sz="1200"/>
          </a:p>
        </p:txBody>
      </p:sp>
      <p:sp>
        <p:nvSpPr>
          <p:cNvPr id="35" name="Text 35"/>
          <p:cNvSpPr txBox="1"/>
          <p:nvPr/>
        </p:nvSpPr>
        <p:spPr>
          <a:xfrm>
            <a:off x="10058400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FFFFFF"/>
                </a:solidFill>
                <a:latin typeface="맑은 고딕"/>
                <a:ea typeface="맑은 고딕"/>
              </a:rPr>
              <a:t>초안 생성</a:t>
            </a:r>
            <a:endParaRPr lang="ko-KR" sz="1800"/>
          </a:p>
        </p:txBody>
      </p:sp>
      <p:sp>
        <p:nvSpPr>
          <p:cNvPr id="36" name="Text 36"/>
          <p:cNvSpPr txBox="1"/>
          <p:nvPr/>
        </p:nvSpPr>
        <p:spPr>
          <a:xfrm>
            <a:off x="10058400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FFFFFF"/>
                </a:solidFill>
                <a:latin typeface="맑은 고딕"/>
                <a:ea typeface="맑은 고딕"/>
              </a:rPr>
              <a:t>가정·계산·출처</a:t>
            </a:r>
            <a:endParaRPr lang="ko-KR" sz="1200"/>
          </a:p>
          <a:p>
            <a:pPr algn="l"/>
            <a:r>
              <a:rPr lang="ko-KR" sz="1200" b="0">
                <a:solidFill>
                  <a:srgbClr val="FFFFFF"/>
                </a:solidFill>
                <a:latin typeface="맑은 고딕"/>
                <a:ea typeface="맑은 고딕"/>
              </a:rPr>
              <a:t>문서와 PDF</a:t>
            </a:r>
            <a:endParaRPr lang="ko-KR" sz="1200"/>
          </a:p>
        </p:txBody>
      </p:sp>
      <p:sp>
        <p:nvSpPr>
          <p:cNvPr id="37" name="Card 37"/>
          <p:cNvSpPr/>
          <p:nvPr/>
        </p:nvSpPr>
        <p:spPr>
          <a:xfrm>
            <a:off x="594360" y="5056632"/>
            <a:ext cx="11000232" cy="1078992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22960" y="5202936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부족한 값이 있으면 사용자 확인으로 이어집니다.</a:t>
            </a:r>
            <a:endParaRPr lang="ko-KR" sz="1800"/>
          </a:p>
        </p:txBody>
      </p:sp>
      <p:sp>
        <p:nvSpPr>
          <p:cNvPr id="39" name="Text 39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없는 숫자를 임의로 넣지 않고, 확인한 값으로 다시 계산합니다.</a:t>
            </a:r>
            <a:endParaRPr lang="ko-KR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라우팅 트리는 어떻게 나뉘나요?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비용의 성격 → 세부 유형 → 등록 산식. 아래는 주요 가지를 요약한 구조입니다.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03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4407408" y="2148840"/>
            <a:ext cx="3383280" cy="59436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407408" y="22860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2000" b="1">
                <a:solidFill>
                  <a:srgbClr val="FFFFFF"/>
                </a:solidFill>
                <a:latin typeface="맑은 고딕"/>
                <a:ea typeface="맑은 고딕"/>
              </a:rPr>
              <a:t>비용 항목별 라우팅</a:t>
            </a:r>
            <a:endParaRPr lang="ko-KR" sz="2000"/>
          </a:p>
        </p:txBody>
      </p:sp>
      <p:cxnSp>
        <p:nvCxnSpPr>
          <p:cNvPr id="10" name="Branch 10"/>
          <p:cNvCxnSpPr/>
          <p:nvPr/>
        </p:nvCxnSpPr>
        <p:spPr>
          <a:xfrm>
            <a:off x="6099048" y="2743200"/>
            <a:ext cx="0" cy="292608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1" name="Branch 11"/>
          <p:cNvCxnSpPr/>
          <p:nvPr/>
        </p:nvCxnSpPr>
        <p:spPr>
          <a:xfrm>
            <a:off x="1307592" y="3035808"/>
            <a:ext cx="9601200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2" name="Branch 12"/>
          <p:cNvCxnSpPr/>
          <p:nvPr/>
        </p:nvCxnSpPr>
        <p:spPr>
          <a:xfrm>
            <a:off x="13075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3" name="Card 13"/>
          <p:cNvSpPr/>
          <p:nvPr/>
        </p:nvSpPr>
        <p:spPr>
          <a:xfrm>
            <a:off x="5943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675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인건비</a:t>
            </a:r>
            <a:endParaRPr lang="ko-KR" sz="1500"/>
          </a:p>
        </p:txBody>
      </p:sp>
      <p:sp>
        <p:nvSpPr>
          <p:cNvPr id="15" name="Text 15"/>
          <p:cNvSpPr txBox="1"/>
          <p:nvPr/>
        </p:nvSpPr>
        <p:spPr>
          <a:xfrm>
            <a:off x="6492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보수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기관부담금</a:t>
            </a:r>
            <a:endParaRPr lang="ko-KR" sz="1100"/>
          </a:p>
        </p:txBody>
      </p:sp>
      <p:cxnSp>
        <p:nvCxnSpPr>
          <p:cNvPr id="16" name="Branch 16"/>
          <p:cNvCxnSpPr/>
          <p:nvPr/>
        </p:nvCxnSpPr>
        <p:spPr>
          <a:xfrm>
            <a:off x="29077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7" name="Card 17"/>
          <p:cNvSpPr/>
          <p:nvPr/>
        </p:nvSpPr>
        <p:spPr>
          <a:xfrm>
            <a:off x="21945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22677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물건비</a:t>
            </a:r>
            <a:endParaRPr lang="ko-KR" sz="1500"/>
          </a:p>
        </p:txBody>
      </p:sp>
      <p:sp>
        <p:nvSpPr>
          <p:cNvPr id="19" name="Text 19"/>
          <p:cNvSpPr txBox="1"/>
          <p:nvPr/>
        </p:nvSpPr>
        <p:spPr>
          <a:xfrm>
            <a:off x="22494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위원회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조사 · 정보시스템</a:t>
            </a:r>
            <a:endParaRPr lang="ko-KR" sz="1100"/>
          </a:p>
        </p:txBody>
      </p:sp>
      <p:cxnSp>
        <p:nvCxnSpPr>
          <p:cNvPr id="20" name="Branch 20"/>
          <p:cNvCxnSpPr/>
          <p:nvPr/>
        </p:nvCxnSpPr>
        <p:spPr>
          <a:xfrm>
            <a:off x="45079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1" name="Card 21"/>
          <p:cNvSpPr/>
          <p:nvPr/>
        </p:nvSpPr>
        <p:spPr>
          <a:xfrm>
            <a:off x="37947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8679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이전지출</a:t>
            </a:r>
            <a:endParaRPr lang="ko-KR" sz="1500"/>
          </a:p>
        </p:txBody>
      </p:sp>
      <p:sp>
        <p:nvSpPr>
          <p:cNvPr id="23" name="Text 23"/>
          <p:cNvSpPr txBox="1"/>
          <p:nvPr/>
        </p:nvSpPr>
        <p:spPr>
          <a:xfrm>
            <a:off x="38496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개인지원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사업보조 · 사회보험</a:t>
            </a:r>
            <a:endParaRPr lang="ko-KR" sz="1100"/>
          </a:p>
        </p:txBody>
      </p:sp>
      <p:cxnSp>
        <p:nvCxnSpPr>
          <p:cNvPr id="24" name="Branch 24"/>
          <p:cNvCxnSpPr/>
          <p:nvPr/>
        </p:nvCxnSpPr>
        <p:spPr>
          <a:xfrm>
            <a:off x="61081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5" name="Card 25"/>
          <p:cNvSpPr/>
          <p:nvPr/>
        </p:nvSpPr>
        <p:spPr>
          <a:xfrm>
            <a:off x="53949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54681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자본지출</a:t>
            </a:r>
            <a:endParaRPr lang="ko-KR" sz="1500"/>
          </a:p>
        </p:txBody>
      </p:sp>
      <p:sp>
        <p:nvSpPr>
          <p:cNvPr id="27" name="Text 27"/>
          <p:cNvSpPr txBox="1"/>
          <p:nvPr/>
        </p:nvSpPr>
        <p:spPr>
          <a:xfrm>
            <a:off x="54498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시설공사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자산취득</a:t>
            </a:r>
            <a:endParaRPr lang="ko-KR" sz="1100"/>
          </a:p>
        </p:txBody>
      </p:sp>
      <p:cxnSp>
        <p:nvCxnSpPr>
          <p:cNvPr id="28" name="Branch 28"/>
          <p:cNvCxnSpPr/>
          <p:nvPr/>
        </p:nvCxnSpPr>
        <p:spPr>
          <a:xfrm>
            <a:off x="77083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9" name="Card 29"/>
          <p:cNvSpPr/>
          <p:nvPr/>
        </p:nvSpPr>
        <p:spPr>
          <a:xfrm>
            <a:off x="69951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70683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조세감면</a:t>
            </a:r>
            <a:endParaRPr lang="ko-KR" sz="1500"/>
          </a:p>
        </p:txBody>
      </p:sp>
      <p:sp>
        <p:nvSpPr>
          <p:cNvPr id="31" name="Text 31"/>
          <p:cNvSpPr txBox="1"/>
          <p:nvPr/>
        </p:nvSpPr>
        <p:spPr>
          <a:xfrm>
            <a:off x="70500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세율변경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공제변경</a:t>
            </a:r>
            <a:endParaRPr lang="ko-KR" sz="1100"/>
          </a:p>
        </p:txBody>
      </p:sp>
      <p:cxnSp>
        <p:nvCxnSpPr>
          <p:cNvPr id="32" name="Branch 32"/>
          <p:cNvCxnSpPr/>
          <p:nvPr/>
        </p:nvCxnSpPr>
        <p:spPr>
          <a:xfrm>
            <a:off x="93085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33" name="Card 33"/>
          <p:cNvSpPr/>
          <p:nvPr/>
        </p:nvSpPr>
        <p:spPr>
          <a:xfrm>
            <a:off x="85953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86685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세외수입</a:t>
            </a:r>
            <a:endParaRPr lang="ko-KR" sz="1500"/>
          </a:p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감소</a:t>
            </a:r>
            <a:endParaRPr lang="ko-KR" sz="1500"/>
          </a:p>
        </p:txBody>
      </p:sp>
      <p:sp>
        <p:nvSpPr>
          <p:cNvPr id="35" name="Text 35"/>
          <p:cNvSpPr txBox="1"/>
          <p:nvPr/>
        </p:nvSpPr>
        <p:spPr>
          <a:xfrm>
            <a:off x="86502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수수료 변경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수수료 면제</a:t>
            </a:r>
            <a:endParaRPr lang="ko-KR" sz="1100"/>
          </a:p>
        </p:txBody>
      </p:sp>
      <p:cxnSp>
        <p:nvCxnSpPr>
          <p:cNvPr id="36" name="Branch 36"/>
          <p:cNvCxnSpPr/>
          <p:nvPr/>
        </p:nvCxnSpPr>
        <p:spPr>
          <a:xfrm>
            <a:off x="109087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37" name="Card 37"/>
          <p:cNvSpPr/>
          <p:nvPr/>
        </p:nvSpPr>
        <p:spPr>
          <a:xfrm>
            <a:off x="101955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102687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출자출연</a:t>
            </a:r>
            <a:endParaRPr lang="ko-KR" sz="1500"/>
          </a:p>
        </p:txBody>
      </p:sp>
      <p:sp>
        <p:nvSpPr>
          <p:cNvPr id="39" name="Text 39"/>
          <p:cNvSpPr txBox="1"/>
          <p:nvPr/>
        </p:nvSpPr>
        <p:spPr>
          <a:xfrm>
            <a:off x="102504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사업분담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기관별 출연</a:t>
            </a:r>
            <a:endParaRPr lang="ko-KR" sz="1100"/>
          </a:p>
        </p:txBody>
      </p:sp>
      <p:sp>
        <p:nvSpPr>
          <p:cNvPr id="40" name="Card 40"/>
          <p:cNvSpPr/>
          <p:nvPr/>
        </p:nvSpPr>
        <p:spPr>
          <a:xfrm>
            <a:off x="594360" y="5495544"/>
            <a:ext cx="11000232" cy="822960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822960" y="56418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AI는 트리 끝의 계산 유형을 선택하고, 그 유형에 연결된 산식을 사용합니다.</a:t>
            </a:r>
            <a:endParaRPr lang="ko-KR" sz="1800"/>
          </a:p>
        </p:txBody>
      </p:sp>
      <p:sp>
        <p:nvSpPr>
          <p:cNvPr id="42" name="Text 42"/>
          <p:cNvSpPr txBox="1"/>
          <p:nvPr/>
        </p:nvSpPr>
        <p:spPr>
          <a:xfrm>
            <a:off x="594360" y="632764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900" b="0">
                <a:solidFill>
                  <a:srgbClr val="8291A5"/>
                </a:solidFill>
                <a:latin typeface="맑은 고딕"/>
                <a:ea typeface="맑은 고딕"/>
              </a:rPr>
              <a:t>참고수입은 별도 가지로 관리 · “복지·산업 진흥” 같은 정책 목적과 비용의 성격은 구분</a:t>
            </a:r>
            <a:endParaRPr lang="ko-KR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조직 하나를 신설하면 어디로 가나요?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“조직신설”은 한 개 산식이 아니라, 여러 비용 항목으로 나눠 계산할 수 있습니다.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04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834640"/>
            <a:ext cx="1993392" cy="132588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58952" y="3072384"/>
            <a:ext cx="16642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2300" b="1">
                <a:solidFill>
                  <a:srgbClr val="FFFFFF"/>
                </a:solidFill>
                <a:latin typeface="맑은 고딕"/>
                <a:ea typeface="맑은 고딕"/>
              </a:rPr>
              <a:t>조직 신설</a:t>
            </a:r>
            <a:endParaRPr lang="ko-KR" sz="2300"/>
          </a:p>
          <a:p>
            <a:pPr algn="ctr"/>
            <a:r>
              <a:rPr lang="ko-KR" sz="2300" b="1">
                <a:solidFill>
                  <a:srgbClr val="FFFFFF"/>
                </a:solidFill>
                <a:latin typeface="맑은 고딕"/>
                <a:ea typeface="맑은 고딕"/>
              </a:rPr>
              <a:t>법안</a:t>
            </a:r>
            <a:endParaRPr lang="ko-KR" sz="2300"/>
          </a:p>
        </p:txBody>
      </p:sp>
      <p:cxnSp>
        <p:nvCxnSpPr>
          <p:cNvPr id="10" name="Branch 10"/>
          <p:cNvCxnSpPr/>
          <p:nvPr/>
        </p:nvCxnSpPr>
        <p:spPr>
          <a:xfrm>
            <a:off x="2587752" y="3502152"/>
            <a:ext cx="402336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1" name="Branch 11"/>
          <p:cNvCxnSpPr/>
          <p:nvPr/>
        </p:nvCxnSpPr>
        <p:spPr>
          <a:xfrm>
            <a:off x="2990088" y="2450592"/>
            <a:ext cx="0" cy="265176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2" name="Branch 12"/>
          <p:cNvCxnSpPr/>
          <p:nvPr/>
        </p:nvCxnSpPr>
        <p:spPr>
          <a:xfrm>
            <a:off x="2990088" y="2450592"/>
            <a:ext cx="356616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3" name="Card 13"/>
          <p:cNvSpPr/>
          <p:nvPr/>
        </p:nvSpPr>
        <p:spPr>
          <a:xfrm>
            <a:off x="3346704" y="2029968"/>
            <a:ext cx="8247888" cy="10698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538728" y="216712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직원 보수</a:t>
            </a:r>
            <a:endParaRPr lang="ko-KR" sz="1800"/>
          </a:p>
        </p:txBody>
      </p:sp>
      <p:sp>
        <p:nvSpPr>
          <p:cNvPr id="15" name="Text 15"/>
          <p:cNvSpPr txBox="1"/>
          <p:nvPr/>
        </p:nvSpPr>
        <p:spPr>
          <a:xfrm>
            <a:off x="5687568" y="2176272"/>
            <a:ext cx="5596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1">
                <a:solidFill>
                  <a:srgbClr val="2862B6"/>
                </a:solidFill>
                <a:latin typeface="맑은 고딕"/>
                <a:ea typeface="맑은 고딕"/>
              </a:rPr>
              <a:t>인건비 → 보수 → 직급별</a:t>
            </a:r>
            <a:endParaRPr lang="ko-KR" sz="1400"/>
          </a:p>
        </p:txBody>
      </p:sp>
      <p:sp>
        <p:nvSpPr>
          <p:cNvPr id="16" name="Text 16"/>
          <p:cNvSpPr txBox="1"/>
          <p:nvPr/>
        </p:nvSpPr>
        <p:spPr>
          <a:xfrm>
            <a:off x="5687568" y="2615184"/>
            <a:ext cx="5596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직급별 인원 × 해당 보수</a:t>
            </a:r>
            <a:endParaRPr lang="ko-KR" sz="1300"/>
          </a:p>
        </p:txBody>
      </p:sp>
      <p:cxnSp>
        <p:nvCxnSpPr>
          <p:cNvPr id="17" name="Branch 17"/>
          <p:cNvCxnSpPr/>
          <p:nvPr/>
        </p:nvCxnSpPr>
        <p:spPr>
          <a:xfrm>
            <a:off x="2990088" y="3785616"/>
            <a:ext cx="356616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8" name="Card 18"/>
          <p:cNvSpPr/>
          <p:nvPr/>
        </p:nvSpPr>
        <p:spPr>
          <a:xfrm>
            <a:off x="3346704" y="3364992"/>
            <a:ext cx="8247888" cy="10698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3538728" y="35021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위원회 수당</a:t>
            </a:r>
            <a:endParaRPr lang="ko-KR" sz="1800"/>
          </a:p>
        </p:txBody>
      </p:sp>
      <p:sp>
        <p:nvSpPr>
          <p:cNvPr id="20" name="Text 20"/>
          <p:cNvSpPr txBox="1"/>
          <p:nvPr/>
        </p:nvSpPr>
        <p:spPr>
          <a:xfrm>
            <a:off x="5687568" y="3511296"/>
            <a:ext cx="5596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1">
                <a:solidFill>
                  <a:srgbClr val="2862B6"/>
                </a:solidFill>
                <a:latin typeface="맑은 고딕"/>
                <a:ea typeface="맑은 고딕"/>
              </a:rPr>
              <a:t>물건비 → 위원회 → 구성요소</a:t>
            </a:r>
            <a:endParaRPr lang="ko-KR" sz="1400"/>
          </a:p>
        </p:txBody>
      </p:sp>
      <p:sp>
        <p:nvSpPr>
          <p:cNvPr id="21" name="Text 21"/>
          <p:cNvSpPr txBox="1"/>
          <p:nvPr/>
        </p:nvSpPr>
        <p:spPr>
          <a:xfrm>
            <a:off x="5687568" y="3950208"/>
            <a:ext cx="5596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유급위원 수 × 회의 횟수 × 수당</a:t>
            </a:r>
            <a:endParaRPr lang="ko-KR" sz="1300"/>
          </a:p>
        </p:txBody>
      </p:sp>
      <p:cxnSp>
        <p:nvCxnSpPr>
          <p:cNvPr id="22" name="Branch 22"/>
          <p:cNvCxnSpPr/>
          <p:nvPr/>
        </p:nvCxnSpPr>
        <p:spPr>
          <a:xfrm>
            <a:off x="2990088" y="5120640"/>
            <a:ext cx="356616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3" name="Card 23"/>
          <p:cNvSpPr/>
          <p:nvPr/>
        </p:nvSpPr>
        <p:spPr>
          <a:xfrm>
            <a:off x="3346704" y="4700016"/>
            <a:ext cx="8247888" cy="10698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3538728" y="4837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시설·장비 구입</a:t>
            </a:r>
            <a:endParaRPr lang="ko-KR" sz="1800"/>
          </a:p>
        </p:txBody>
      </p:sp>
      <p:sp>
        <p:nvSpPr>
          <p:cNvPr id="25" name="Text 25"/>
          <p:cNvSpPr txBox="1"/>
          <p:nvPr/>
        </p:nvSpPr>
        <p:spPr>
          <a:xfrm>
            <a:off x="5687568" y="4846320"/>
            <a:ext cx="5596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1">
                <a:solidFill>
                  <a:srgbClr val="2862B6"/>
                </a:solidFill>
                <a:latin typeface="맑은 고딕"/>
                <a:ea typeface="맑은 고딕"/>
              </a:rPr>
              <a:t>자본지출 → 자산취득</a:t>
            </a:r>
            <a:endParaRPr lang="ko-KR" sz="1400"/>
          </a:p>
        </p:txBody>
      </p:sp>
      <p:sp>
        <p:nvSpPr>
          <p:cNvPr id="26" name="Text 26"/>
          <p:cNvSpPr txBox="1"/>
          <p:nvPr/>
        </p:nvSpPr>
        <p:spPr>
          <a:xfrm>
            <a:off x="5687568" y="5285232"/>
            <a:ext cx="5596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수량 × 취득 단가</a:t>
            </a:r>
            <a:endParaRPr lang="ko-KR" sz="1300"/>
          </a:p>
        </p:txBody>
      </p:sp>
      <p:sp>
        <p:nvSpPr>
          <p:cNvPr id="27" name="Text 27"/>
          <p:cNvSpPr txBox="1"/>
          <p:nvPr/>
        </p:nvSpPr>
        <p:spPr>
          <a:xfrm>
            <a:off x="594360" y="60533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66758A"/>
                </a:solidFill>
                <a:latin typeface="맑은 고딕"/>
                <a:ea typeface="맑은 고딕"/>
              </a:rPr>
              <a:t>해당 법안에 실제로 필요한 항목만 적용합니다. 기존 업무·예산과 중복되는 비용은 확인합니다.</a:t>
            </a:r>
            <a:endParaRPr lang="ko-KR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산식과 변수는 누가 정하나요?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산식은 등록된 계산 구조를 사용하고, AI는 적용할 유형과 근거 있는 값을 선택합니다.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05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286000"/>
            <a:ext cx="5358384" cy="24414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487168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등록 산식</a:t>
            </a:r>
            <a:endParaRPr lang="ko-KR" sz="2000"/>
          </a:p>
        </p:txBody>
      </p:sp>
      <p:sp>
        <p:nvSpPr>
          <p:cNvPr id="10" name="Text 10"/>
          <p:cNvSpPr txBox="1"/>
          <p:nvPr/>
        </p:nvSpPr>
        <p:spPr>
          <a:xfrm>
            <a:off x="795528" y="3154680"/>
            <a:ext cx="4956048" cy="1499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위원회 수 × 유급위원 수 × 회의 횟수 × 수당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AI가 해당 세부 유형을 선택하면 산식이 연결됩니다.</a:t>
            </a:r>
            <a:endParaRPr lang="ko-KR" sz="1400"/>
          </a:p>
        </p:txBody>
      </p:sp>
      <p:sp>
        <p:nvSpPr>
          <p:cNvPr id="11" name="Card 11"/>
          <p:cNvSpPr/>
          <p:nvPr/>
        </p:nvSpPr>
        <p:spPr>
          <a:xfrm>
            <a:off x="6236208" y="2286000"/>
            <a:ext cx="5358384" cy="24414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437376" y="2487168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단가·변수 DB</a:t>
            </a:r>
            <a:endParaRPr lang="ko-KR" sz="2000"/>
          </a:p>
        </p:txBody>
      </p:sp>
      <p:sp>
        <p:nvSpPr>
          <p:cNvPr id="13" name="Text 13"/>
          <p:cNvSpPr txBox="1"/>
          <p:nvPr/>
        </p:nvSpPr>
        <p:spPr>
          <a:xfrm>
            <a:off x="6437376" y="3154680"/>
            <a:ext cx="4956048" cy="1499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공식 보수·단가 / 인구·통계 / 유사 사례의 가정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값과 함께 출처·단위·적용연도·대상 정보를 확인합니다.</a:t>
            </a:r>
            <a:endParaRPr lang="ko-KR" sz="1400"/>
          </a:p>
        </p:txBody>
      </p:sp>
      <p:sp>
        <p:nvSpPr>
          <p:cNvPr id="14" name="Card 14"/>
          <p:cNvSpPr/>
          <p:nvPr/>
        </p:nvSpPr>
        <p:spPr>
          <a:xfrm>
            <a:off x="594360" y="5166360"/>
            <a:ext cx="11000232" cy="1078992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22960" y="5312664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값을 고르는 기준: 대상 · 규모 · 단위 · 적용연도가 맞는가?</a:t>
            </a:r>
            <a:endParaRPr lang="ko-KR" sz="1800"/>
          </a:p>
        </p:txBody>
      </p:sp>
      <p:sp>
        <p:nvSpPr>
          <p:cNvPr id="16" name="Text 16"/>
          <p:cNvSpPr txBox="1"/>
          <p:nvPr/>
        </p:nvSpPr>
        <p:spPr>
          <a:xfrm>
            <a:off x="822960" y="573328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공식값이 있어도 적용 대상이 다르면 사용하지 않습니다. 추계의 가정은 확인 대상으로 표시합니다.</a:t>
            </a:r>
            <a:endParaRPr lang="ko-KR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숫자가 없으면 어떻게 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원문에서 확인한 값은 다시 묻지 않고, 필요한 가정만 확인합니다.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06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359152"/>
            <a:ext cx="3200400" cy="318211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560320"/>
            <a:ext cx="27980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이미 확인한 값</a:t>
            </a:r>
            <a:endParaRPr lang="ko-KR" sz="2000"/>
          </a:p>
        </p:txBody>
      </p:sp>
      <p:sp>
        <p:nvSpPr>
          <p:cNvPr id="10" name="Text 10"/>
          <p:cNvSpPr txBox="1"/>
          <p:nvPr/>
        </p:nvSpPr>
        <p:spPr>
          <a:xfrm>
            <a:off x="795528" y="3227832"/>
            <a:ext cx="2798064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법안에 지급액·횟수 등이 명시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해당 값을 계산에 사용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출처 조문을 함께 보관</a:t>
            </a:r>
            <a:endParaRPr lang="ko-KR" sz="1400"/>
          </a:p>
        </p:txBody>
      </p:sp>
      <p:sp>
        <p:nvSpPr>
          <p:cNvPr id="11" name="Card 11"/>
          <p:cNvSpPr/>
          <p:nvPr/>
        </p:nvSpPr>
        <p:spPr>
          <a:xfrm>
            <a:off x="4160520" y="2359152"/>
            <a:ext cx="3502152" cy="318211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361688" y="2560320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유사 후보가 있는 값</a:t>
            </a:r>
            <a:endParaRPr lang="ko-KR" sz="2000"/>
          </a:p>
        </p:txBody>
      </p:sp>
      <p:sp>
        <p:nvSpPr>
          <p:cNvPr id="13" name="Text 13"/>
          <p:cNvSpPr txBox="1"/>
          <p:nvPr/>
        </p:nvSpPr>
        <p:spPr>
          <a:xfrm>
            <a:off x="4361688" y="3227832"/>
            <a:ext cx="3099816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공식값 또는 유사 사례 제시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사용자가 근거를 보고 선택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선택한 가정으로 계산</a:t>
            </a:r>
            <a:endParaRPr lang="ko-KR" sz="1400"/>
          </a:p>
        </p:txBody>
      </p:sp>
      <p:sp>
        <p:nvSpPr>
          <p:cNvPr id="14" name="Card 14"/>
          <p:cNvSpPr/>
          <p:nvPr/>
        </p:nvSpPr>
        <p:spPr>
          <a:xfrm>
            <a:off x="8028432" y="2359152"/>
            <a:ext cx="3566160" cy="318211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229600" y="2560320"/>
            <a:ext cx="316382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적절한 후보가 없는 값</a:t>
            </a:r>
            <a:endParaRPr lang="ko-KR" sz="2000"/>
          </a:p>
        </p:txBody>
      </p:sp>
      <p:sp>
        <p:nvSpPr>
          <p:cNvPr id="16" name="Text 16"/>
          <p:cNvSpPr txBox="1"/>
          <p:nvPr/>
        </p:nvSpPr>
        <p:spPr>
          <a:xfrm>
            <a:off x="8229600" y="3227832"/>
            <a:ext cx="3163824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부족한 이유를 설명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직접 입력 또는 검토 보류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미산출 항목을 0원으로 처리하지 않음</a:t>
            </a:r>
            <a:endParaRPr lang="ko-KR" sz="1400"/>
          </a:p>
        </p:txBody>
      </p:sp>
      <p:sp>
        <p:nvSpPr>
          <p:cNvPr id="17" name="Text 17"/>
          <p:cNvSpPr txBox="1"/>
          <p:nvPr/>
        </p:nvSpPr>
        <p:spPr>
          <a:xfrm>
            <a:off x="594360" y="5852160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66758A"/>
                </a:solidFill>
                <a:latin typeface="맑은 고딕"/>
                <a:ea typeface="맑은 고딕"/>
              </a:rPr>
              <a:t>예: 순증 인원이 불명확하면 유사 규모의 후보를 보여주되, 확정 정원이라고 단정하지 않습니다.</a:t>
            </a:r>
            <a:endParaRPr lang="ko-KR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모든 조문을 비용으로 계산하나요?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추계 가능 여부와 추가 비용 발생 여부를 먼저 구분합니다.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07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423160"/>
            <a:ext cx="3456432" cy="258775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624328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추계 대상</a:t>
            </a:r>
            <a:endParaRPr lang="ko-KR" sz="2000"/>
          </a:p>
        </p:txBody>
      </p:sp>
      <p:sp>
        <p:nvSpPr>
          <p:cNvPr id="10" name="Text 10"/>
          <p:cNvSpPr txBox="1"/>
          <p:nvPr/>
        </p:nvSpPr>
        <p:spPr>
          <a:xfrm>
            <a:off x="795528" y="3291840"/>
            <a:ext cx="305409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새 의무·급여·기구 등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등록 산식과 근거로 계산 가능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→ 필요한 값 확인 후 계산</a:t>
            </a:r>
            <a:endParaRPr lang="ko-KR" sz="1400"/>
          </a:p>
        </p:txBody>
      </p:sp>
      <p:sp>
        <p:nvSpPr>
          <p:cNvPr id="11" name="Card 11"/>
          <p:cNvSpPr/>
          <p:nvPr/>
        </p:nvSpPr>
        <p:spPr>
          <a:xfrm>
            <a:off x="4370832" y="2423160"/>
            <a:ext cx="3456432" cy="258775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572000" y="2624328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추가 비용 없음</a:t>
            </a:r>
            <a:endParaRPr lang="ko-KR" sz="2000"/>
          </a:p>
        </p:txBody>
      </p:sp>
      <p:sp>
        <p:nvSpPr>
          <p:cNvPr id="13" name="Text 13"/>
          <p:cNvSpPr txBox="1"/>
          <p:nvPr/>
        </p:nvSpPr>
        <p:spPr>
          <a:xfrm>
            <a:off x="4572000" y="3291840"/>
            <a:ext cx="305409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기존 업무·예산을 재확인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추가 소요가 없다는 근거 확인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→ 중복 지출에서 제외</a:t>
            </a:r>
            <a:endParaRPr lang="ko-KR" sz="1400"/>
          </a:p>
        </p:txBody>
      </p:sp>
      <p:sp>
        <p:nvSpPr>
          <p:cNvPr id="14" name="Card 14"/>
          <p:cNvSpPr/>
          <p:nvPr/>
        </p:nvSpPr>
        <p:spPr>
          <a:xfrm>
            <a:off x="8138160" y="2423160"/>
            <a:ext cx="3456432" cy="258775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339328" y="2624328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검토 필요</a:t>
            </a:r>
            <a:endParaRPr lang="ko-KR" sz="2000"/>
          </a:p>
        </p:txBody>
      </p:sp>
      <p:sp>
        <p:nvSpPr>
          <p:cNvPr id="16" name="Text 16"/>
          <p:cNvSpPr txBox="1"/>
          <p:nvPr/>
        </p:nvSpPr>
        <p:spPr>
          <a:xfrm>
            <a:off x="8339328" y="3291840"/>
            <a:ext cx="305409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실시 여부·범위·근거 불명확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또는 등록 산식으로 처리 곤란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→ 사유를 남기고 확인</a:t>
            </a:r>
            <a:endParaRPr lang="ko-KR" sz="1400"/>
          </a:p>
        </p:txBody>
      </p:sp>
      <p:sp>
        <p:nvSpPr>
          <p:cNvPr id="17" name="Card 17"/>
          <p:cNvSpPr/>
          <p:nvPr/>
        </p:nvSpPr>
        <p:spPr>
          <a:xfrm>
            <a:off x="594360" y="5404104"/>
            <a:ext cx="11000232" cy="822960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22960" y="555040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DB에서 값을 못 찾은 것과, 법안 자체를 추계할 수 없는 것은 다릅니다.</a:t>
            </a:r>
            <a:endParaRPr lang="ko-KR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사용자는 어떤 결과물을 받나요?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입력한 가정부터 계산 결과까지 확인할 수 있는 비용추계서 초안을 제공합니다.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08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286000"/>
            <a:ext cx="6071616" cy="361188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859536" y="2542032"/>
            <a:ext cx="5532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100" b="1">
                <a:solidFill>
                  <a:srgbClr val="172B4D"/>
                </a:solidFill>
                <a:latin typeface="맑은 고딕"/>
                <a:ea typeface="맑은 고딕"/>
              </a:rPr>
              <a:t>비용추계서의 공통 구성</a:t>
            </a:r>
            <a:endParaRPr lang="ko-KR" sz="2100"/>
          </a:p>
        </p:txBody>
      </p:sp>
      <p:sp>
        <p:nvSpPr>
          <p:cNvPr id="10" name="Text 10"/>
          <p:cNvSpPr txBox="1"/>
          <p:nvPr/>
        </p:nvSpPr>
        <p:spPr>
          <a:xfrm>
            <a:off x="896112" y="322783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3978E8"/>
                </a:solidFill>
                <a:latin typeface="맑은 고딕"/>
                <a:ea typeface="맑은 고딕"/>
              </a:rPr>
              <a:t>Ⅰ</a:t>
            </a:r>
            <a:endParaRPr lang="ko-KR" sz="1500"/>
          </a:p>
        </p:txBody>
      </p:sp>
      <p:sp>
        <p:nvSpPr>
          <p:cNvPr id="11" name="Text 11"/>
          <p:cNvSpPr txBox="1"/>
          <p:nvPr/>
        </p:nvSpPr>
        <p:spPr>
          <a:xfrm>
            <a:off x="1435608" y="322783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비용추계 결과</a:t>
            </a:r>
            <a:endParaRPr lang="ko-KR" sz="1600"/>
          </a:p>
        </p:txBody>
      </p:sp>
      <p:sp>
        <p:nvSpPr>
          <p:cNvPr id="12" name="Text 12"/>
          <p:cNvSpPr txBox="1"/>
          <p:nvPr/>
        </p:nvSpPr>
        <p:spPr>
          <a:xfrm>
            <a:off x="4178808" y="3227832"/>
            <a:ext cx="22494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연도별 금액 · 합계</a:t>
            </a:r>
            <a:endParaRPr lang="ko-KR" sz="1100"/>
          </a:p>
        </p:txBody>
      </p:sp>
      <p:sp>
        <p:nvSpPr>
          <p:cNvPr id="13" name="Text 13"/>
          <p:cNvSpPr txBox="1"/>
          <p:nvPr/>
        </p:nvSpPr>
        <p:spPr>
          <a:xfrm>
            <a:off x="896112" y="3794760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3978E8"/>
                </a:solidFill>
                <a:latin typeface="맑은 고딕"/>
                <a:ea typeface="맑은 고딕"/>
              </a:rPr>
              <a:t>Ⅱ</a:t>
            </a:r>
            <a:endParaRPr lang="ko-KR" sz="1500"/>
          </a:p>
        </p:txBody>
      </p:sp>
      <p:sp>
        <p:nvSpPr>
          <p:cNvPr id="14" name="Text 14"/>
          <p:cNvSpPr txBox="1"/>
          <p:nvPr/>
        </p:nvSpPr>
        <p:spPr>
          <a:xfrm>
            <a:off x="1435608" y="379476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재정수반요인</a:t>
            </a:r>
            <a:endParaRPr lang="ko-KR" sz="1600"/>
          </a:p>
        </p:txBody>
      </p:sp>
      <p:sp>
        <p:nvSpPr>
          <p:cNvPr id="15" name="Text 15"/>
          <p:cNvSpPr txBox="1"/>
          <p:nvPr/>
        </p:nvSpPr>
        <p:spPr>
          <a:xfrm>
            <a:off x="4178808" y="3794760"/>
            <a:ext cx="22494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대상 조문 · 비용 항목</a:t>
            </a:r>
            <a:endParaRPr lang="ko-KR" sz="1100"/>
          </a:p>
        </p:txBody>
      </p:sp>
      <p:sp>
        <p:nvSpPr>
          <p:cNvPr id="16" name="Text 16"/>
          <p:cNvSpPr txBox="1"/>
          <p:nvPr/>
        </p:nvSpPr>
        <p:spPr>
          <a:xfrm>
            <a:off x="896112" y="4361688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3978E8"/>
                </a:solidFill>
                <a:latin typeface="맑은 고딕"/>
                <a:ea typeface="맑은 고딕"/>
              </a:rPr>
              <a:t>Ⅲ</a:t>
            </a:r>
            <a:endParaRPr lang="ko-KR" sz="1500"/>
          </a:p>
        </p:txBody>
      </p:sp>
      <p:sp>
        <p:nvSpPr>
          <p:cNvPr id="17" name="Text 17"/>
          <p:cNvSpPr txBox="1"/>
          <p:nvPr/>
        </p:nvSpPr>
        <p:spPr>
          <a:xfrm>
            <a:off x="1435608" y="436168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추계 전제와 상세내역</a:t>
            </a:r>
            <a:endParaRPr lang="ko-KR" sz="1600"/>
          </a:p>
        </p:txBody>
      </p:sp>
      <p:sp>
        <p:nvSpPr>
          <p:cNvPr id="18" name="Text 18"/>
          <p:cNvSpPr txBox="1"/>
          <p:nvPr/>
        </p:nvSpPr>
        <p:spPr>
          <a:xfrm>
            <a:off x="4178808" y="4361688"/>
            <a:ext cx="22494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기간 · 산식 · 변수 · 출처</a:t>
            </a:r>
            <a:endParaRPr lang="ko-KR" sz="1100"/>
          </a:p>
        </p:txBody>
      </p:sp>
      <p:sp>
        <p:nvSpPr>
          <p:cNvPr id="19" name="Text 19"/>
          <p:cNvSpPr txBox="1"/>
          <p:nvPr/>
        </p:nvSpPr>
        <p:spPr>
          <a:xfrm>
            <a:off x="896112" y="4928616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3978E8"/>
                </a:solidFill>
                <a:latin typeface="맑은 고딕"/>
                <a:ea typeface="맑은 고딕"/>
              </a:rPr>
              <a:t>Ⅳ</a:t>
            </a:r>
            <a:endParaRPr lang="ko-KR" sz="1500"/>
          </a:p>
        </p:txBody>
      </p:sp>
      <p:sp>
        <p:nvSpPr>
          <p:cNvPr id="20" name="Text 20"/>
          <p:cNvSpPr txBox="1"/>
          <p:nvPr/>
        </p:nvSpPr>
        <p:spPr>
          <a:xfrm>
            <a:off x="1435608" y="4928616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부대의견</a:t>
            </a:r>
            <a:endParaRPr lang="ko-KR" sz="1600"/>
          </a:p>
        </p:txBody>
      </p:sp>
      <p:sp>
        <p:nvSpPr>
          <p:cNvPr id="21" name="Text 21"/>
          <p:cNvSpPr txBox="1"/>
          <p:nvPr/>
        </p:nvSpPr>
        <p:spPr>
          <a:xfrm>
            <a:off x="4178808" y="4928616"/>
            <a:ext cx="22494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가정에 따른 차이 · 미산출 사유</a:t>
            </a:r>
            <a:endParaRPr lang="ko-KR" sz="1100"/>
          </a:p>
        </p:txBody>
      </p:sp>
      <p:sp>
        <p:nvSpPr>
          <p:cNvPr id="22" name="Card 22"/>
          <p:cNvSpPr/>
          <p:nvPr/>
        </p:nvSpPr>
        <p:spPr>
          <a:xfrm>
            <a:off x="7022592" y="2286000"/>
            <a:ext cx="4572000" cy="1563624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7223760" y="2487168"/>
            <a:ext cx="41696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화면에서 확인</a:t>
            </a:r>
            <a:endParaRPr lang="ko-KR" sz="2000"/>
          </a:p>
        </p:txBody>
      </p:sp>
      <p:sp>
        <p:nvSpPr>
          <p:cNvPr id="24" name="Text 24"/>
          <p:cNvSpPr txBox="1"/>
          <p:nvPr/>
        </p:nvSpPr>
        <p:spPr>
          <a:xfrm>
            <a:off x="7223760" y="3154680"/>
            <a:ext cx="4169664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선택한 가정과 출처 · 연도별 계산 결과</a:t>
            </a:r>
            <a:endParaRPr lang="ko-KR" sz="1400"/>
          </a:p>
        </p:txBody>
      </p:sp>
      <p:sp>
        <p:nvSpPr>
          <p:cNvPr id="25" name="Card 25"/>
          <p:cNvSpPr/>
          <p:nvPr/>
        </p:nvSpPr>
        <p:spPr>
          <a:xfrm>
            <a:off x="7022592" y="4233672"/>
            <a:ext cx="4572000" cy="1664208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7223760" y="4434840"/>
            <a:ext cx="41696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FFFFFF"/>
                </a:solidFill>
                <a:latin typeface="맑은 고딕"/>
                <a:ea typeface="맑은 고딕"/>
              </a:rPr>
              <a:t>PDF로 내려받기</a:t>
            </a:r>
            <a:endParaRPr lang="ko-KR" sz="2000"/>
          </a:p>
        </p:txBody>
      </p:sp>
      <p:sp>
        <p:nvSpPr>
          <p:cNvPr id="27" name="Text 27"/>
          <p:cNvSpPr txBox="1"/>
          <p:nvPr/>
        </p:nvSpPr>
        <p:spPr>
          <a:xfrm>
            <a:off x="7223760" y="5102352"/>
            <a:ext cx="4169664" cy="722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검토·수정을 위한 비용추계서 초안</a:t>
            </a:r>
            <a:endParaRPr lang="ko-KR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실제로 정답과 얼마나 맞았나요?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개발 검증 사례 · 의안 2200703 / 양육비 선지급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09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286000"/>
            <a:ext cx="11000232" cy="978408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804672" y="2505456"/>
            <a:ext cx="105156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2862B6"/>
                </a:solidFill>
                <a:latin typeface="맑은 고딕"/>
                <a:ea typeface="맑은 고딕"/>
              </a:rPr>
              <a:t>대상 정답을 보기 전에, 다른 의안의 근거로 변수 9개를 채워 계산</a:t>
            </a:r>
            <a:endParaRPr lang="ko-KR" sz="2000"/>
          </a:p>
        </p:txBody>
      </p:sp>
      <p:sp>
        <p:nvSpPr>
          <p:cNvPr id="10" name="Card 10"/>
          <p:cNvSpPr/>
          <p:nvPr/>
        </p:nvSpPr>
        <p:spPr>
          <a:xfrm>
            <a:off x="594360" y="3685032"/>
            <a:ext cx="3474720" cy="15087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95528" y="388620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9 / 9개</a:t>
            </a:r>
            <a:endParaRPr lang="ko-KR" sz="2800"/>
          </a:p>
        </p:txBody>
      </p:sp>
      <p:sp>
        <p:nvSpPr>
          <p:cNvPr id="12" name="Text 12"/>
          <p:cNvSpPr txBox="1"/>
          <p:nvPr/>
        </p:nvSpPr>
        <p:spPr>
          <a:xfrm>
            <a:off x="795528" y="4553712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급여 산정 변수 확보</a:t>
            </a:r>
            <a:endParaRPr lang="ko-KR" sz="1400"/>
          </a:p>
        </p:txBody>
      </p:sp>
      <p:sp>
        <p:nvSpPr>
          <p:cNvPr id="13" name="Card 13"/>
          <p:cNvSpPr/>
          <p:nvPr/>
        </p:nvSpPr>
        <p:spPr>
          <a:xfrm>
            <a:off x="4361688" y="3685032"/>
            <a:ext cx="3474720" cy="15087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562856" y="388620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5 / 5개</a:t>
            </a:r>
            <a:endParaRPr lang="ko-KR" sz="2800"/>
          </a:p>
        </p:txBody>
      </p:sp>
      <p:sp>
        <p:nvSpPr>
          <p:cNvPr id="15" name="Text 15"/>
          <p:cNvSpPr txBox="1"/>
          <p:nvPr/>
        </p:nvSpPr>
        <p:spPr>
          <a:xfrm>
            <a:off x="4562856" y="4553712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연도별 백만원 표시 금액 일치</a:t>
            </a:r>
            <a:endParaRPr lang="ko-KR" sz="1400"/>
          </a:p>
        </p:txBody>
      </p:sp>
      <p:sp>
        <p:nvSpPr>
          <p:cNvPr id="16" name="Card 16"/>
          <p:cNvSpPr/>
          <p:nvPr/>
        </p:nvSpPr>
        <p:spPr>
          <a:xfrm>
            <a:off x="8129016" y="3685032"/>
            <a:ext cx="3465576" cy="150876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330184" y="388620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600" b="1">
                <a:solidFill>
                  <a:srgbClr val="FFFFFF"/>
                </a:solidFill>
                <a:latin typeface="맑은 고딕"/>
                <a:ea typeface="맑은 고딕"/>
              </a:rPr>
              <a:t>약 0.000124%</a:t>
            </a:r>
            <a:endParaRPr lang="ko-KR" sz="2600"/>
          </a:p>
        </p:txBody>
      </p:sp>
      <p:sp>
        <p:nvSpPr>
          <p:cNvPr id="18" name="Text 18"/>
          <p:cNvSpPr txBox="1"/>
          <p:nvPr/>
        </p:nvSpPr>
        <p:spPr>
          <a:xfrm>
            <a:off x="8330184" y="4553712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5년 총액의 차이</a:t>
            </a:r>
            <a:endParaRPr lang="ko-KR" sz="1400"/>
          </a:p>
        </p:txBody>
      </p:sp>
      <p:sp>
        <p:nvSpPr>
          <p:cNvPr id="19" name="Text 19"/>
          <p:cNvSpPr txBox="1"/>
          <p:nvPr/>
        </p:nvSpPr>
        <p:spPr>
          <a:xfrm>
            <a:off x="804672" y="54864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우리 결과 3,216.806억원  /  정답 3,216.81억원  ·  월 지급액·기간·기존 예산 차감 구조 재현</a:t>
            </a:r>
            <a:endParaRPr lang="ko-KR" sz="1300"/>
          </a:p>
        </p:txBody>
      </p:sp>
      <p:sp>
        <p:nvSpPr>
          <p:cNvPr id="20" name="Text 20"/>
          <p:cNvSpPr txBox="1"/>
          <p:nvPr/>
        </p:nvSpPr>
        <p:spPr>
          <a:xfrm>
            <a:off x="804672" y="592531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수동 AI 역할로 수행한 개발 사례입니다. 같은 법률의 다른 의안 근거를 재사용했으며, 전체 유형 성능을 뜻하지 않습니다.</a:t>
            </a:r>
            <a:endParaRPr lang="ko-K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사례가 쌓이면 무엇이 좋아지나요?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계산 유형과 변수 근거를 재사용할 수 있도록 보강합니다.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10 / 10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331720"/>
            <a:ext cx="2532888" cy="21945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532888"/>
            <a:ext cx="21305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새 의안 실행</a:t>
            </a:r>
            <a:endParaRPr lang="ko-KR" sz="1800"/>
          </a:p>
        </p:txBody>
      </p:sp>
      <p:sp>
        <p:nvSpPr>
          <p:cNvPr id="10" name="Text 10"/>
          <p:cNvSpPr txBox="1"/>
          <p:nvPr/>
        </p:nvSpPr>
        <p:spPr>
          <a:xfrm>
            <a:off x="795528" y="3200400"/>
            <a:ext cx="2130552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정답을 보기 전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유형·근거 선택</a:t>
            </a:r>
            <a:endParaRPr lang="ko-KR" sz="1400"/>
          </a:p>
        </p:txBody>
      </p:sp>
      <p:cxnSp>
        <p:nvCxnSpPr>
          <p:cNvPr id="11" name="Arrow 11"/>
          <p:cNvCxnSpPr/>
          <p:nvPr/>
        </p:nvCxnSpPr>
        <p:spPr>
          <a:xfrm>
            <a:off x="3154680" y="3355848"/>
            <a:ext cx="210312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2" name="Card 12"/>
          <p:cNvSpPr/>
          <p:nvPr/>
        </p:nvSpPr>
        <p:spPr>
          <a:xfrm>
            <a:off x="3419856" y="2331720"/>
            <a:ext cx="2532888" cy="21945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621024" y="2532888"/>
            <a:ext cx="21305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정답과 비교</a:t>
            </a:r>
            <a:endParaRPr lang="ko-KR" sz="1800"/>
          </a:p>
        </p:txBody>
      </p:sp>
      <p:sp>
        <p:nvSpPr>
          <p:cNvPr id="14" name="Text 14"/>
          <p:cNvSpPr txBox="1"/>
          <p:nvPr/>
        </p:nvSpPr>
        <p:spPr>
          <a:xfrm>
            <a:off x="3621024" y="3200400"/>
            <a:ext cx="2130552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범위·산식·변수·금액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차이를 구분</a:t>
            </a:r>
            <a:endParaRPr lang="ko-KR" sz="1400"/>
          </a:p>
        </p:txBody>
      </p:sp>
      <p:cxnSp>
        <p:nvCxnSpPr>
          <p:cNvPr id="15" name="Arrow 15"/>
          <p:cNvCxnSpPr/>
          <p:nvPr/>
        </p:nvCxnSpPr>
        <p:spPr>
          <a:xfrm>
            <a:off x="5980176" y="3355848"/>
            <a:ext cx="210312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6" name="Card 16"/>
          <p:cNvSpPr/>
          <p:nvPr/>
        </p:nvSpPr>
        <p:spPr>
          <a:xfrm>
            <a:off x="6245352" y="2331720"/>
            <a:ext cx="2532888" cy="21945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446520" y="2532888"/>
            <a:ext cx="21305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보강</a:t>
            </a:r>
            <a:endParaRPr lang="ko-KR" sz="1800"/>
          </a:p>
        </p:txBody>
      </p:sp>
      <p:sp>
        <p:nvSpPr>
          <p:cNvPr id="18" name="Text 18"/>
          <p:cNvSpPr txBox="1"/>
          <p:nvPr/>
        </p:nvSpPr>
        <p:spPr>
          <a:xfrm>
            <a:off x="6446520" y="3200400"/>
            <a:ext cx="2130552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산식 가지 추가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단가·변수 근거 저장</a:t>
            </a:r>
            <a:endParaRPr lang="ko-KR" sz="1400"/>
          </a:p>
        </p:txBody>
      </p:sp>
      <p:cxnSp>
        <p:nvCxnSpPr>
          <p:cNvPr id="19" name="Arrow 19"/>
          <p:cNvCxnSpPr/>
          <p:nvPr/>
        </p:nvCxnSpPr>
        <p:spPr>
          <a:xfrm>
            <a:off x="8805672" y="3355848"/>
            <a:ext cx="210312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0" name="Card 20"/>
          <p:cNvSpPr/>
          <p:nvPr/>
        </p:nvSpPr>
        <p:spPr>
          <a:xfrm>
            <a:off x="9070848" y="2331720"/>
            <a:ext cx="2532888" cy="219456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272016" y="2532888"/>
            <a:ext cx="21305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FFFFFF"/>
                </a:solidFill>
                <a:latin typeface="맑은 고딕"/>
                <a:ea typeface="맑은 고딕"/>
              </a:rPr>
              <a:t>다른 의안 재검증</a:t>
            </a:r>
            <a:endParaRPr lang="ko-KR" sz="1800"/>
          </a:p>
        </p:txBody>
      </p:sp>
      <p:sp>
        <p:nvSpPr>
          <p:cNvPr id="22" name="Text 22"/>
          <p:cNvSpPr txBox="1"/>
          <p:nvPr/>
        </p:nvSpPr>
        <p:spPr>
          <a:xfrm>
            <a:off x="9272016" y="3200400"/>
            <a:ext cx="2130552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자기 정답 제외</a:t>
            </a:r>
            <a:endParaRPr lang="ko-KR" sz="1400"/>
          </a:p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재사용 성능 확인</a:t>
            </a:r>
            <a:endParaRPr lang="ko-KR" sz="1400"/>
          </a:p>
        </p:txBody>
      </p:sp>
      <p:sp>
        <p:nvSpPr>
          <p:cNvPr id="23" name="Card 23"/>
          <p:cNvSpPr/>
          <p:nvPr/>
        </p:nvSpPr>
        <p:spPr>
          <a:xfrm>
            <a:off x="594360" y="5029200"/>
            <a:ext cx="11000232" cy="1078992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22960" y="5175504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현재: 등록 유형은 계산 가능 · 유형별 자동 처리 완성도는 서로 다름</a:t>
            </a:r>
            <a:endParaRPr lang="ko-KR" sz="1800"/>
          </a:p>
        </p:txBody>
      </p:sp>
      <p:sp>
        <p:nvSpPr>
          <p:cNvPr id="25" name="Text 25"/>
          <p:cNvSpPr txBox="1"/>
          <p:nvPr/>
        </p:nvSpPr>
        <p:spPr>
          <a:xfrm>
            <a:off x="822960" y="55961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웹 자동 분석은 아직 전체 유형의 근거 선택·변수 산정을 같은 수준으로 지원하지 않습니다. 부족한 항목을 보강 중입니다.</a:t>
            </a:r>
            <a:endParaRPr lang="ko-KR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CE">
  <a:themeElements>
    <a:clrScheme name="ERCE">
      <a:dk1>
        <a:srgbClr val="172B4D"/>
      </a:dk1>
      <a:lt1>
        <a:srgbClr val="FFFFFF"/>
      </a:lt1>
      <a:dk2>
        <a:srgbClr val="53657D"/>
      </a:dk2>
      <a:lt2>
        <a:srgbClr val="F7F9FC"/>
      </a:lt2>
      <a:accent1>
        <a:srgbClr val="347EF2"/>
      </a:accent1>
      <a:accent2>
        <a:srgbClr val="66A4FF"/>
      </a:accent2>
      <a:accent3>
        <a:srgbClr val="8299B7"/>
      </a:accent3>
      <a:accent4>
        <a:srgbClr val="D8E5F8"/>
      </a:accent4>
      <a:accent5>
        <a:srgbClr val="7AC5B7"/>
      </a:accent5>
      <a:accent6>
        <a:srgbClr val="D6AC7F"/>
      </a:accent6>
      <a:hlink>
        <a:srgbClr val="347EF2"/>
      </a:hlink>
      <a:folHlink>
        <a:srgbClr val="5F57AE"/>
      </a:folHlink>
    </a:clrScheme>
    <a:fontScheme name="Korean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