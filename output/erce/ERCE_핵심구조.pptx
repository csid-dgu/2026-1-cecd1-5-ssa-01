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300" b="1">
                <a:solidFill>
                  <a:srgbClr val="3978E8"/>
                </a:solidFill>
                <a:latin typeface="맑은 고딕"/>
                <a:ea typeface="맑은 고딕"/>
              </a:rPr>
              <a:t>ERCE  /  법안 비용추계 자동화</a:t>
            </a:r>
            <a:endParaRPr lang="ko-KR" sz="1300"/>
          </a:p>
        </p:txBody>
      </p:sp>
      <p:sp>
        <p:nvSpPr>
          <p:cNvPr id="4" name="Text 4"/>
          <p:cNvSpPr txBox="1"/>
          <p:nvPr/>
        </p:nvSpPr>
        <p:spPr>
          <a:xfrm>
            <a:off x="594360" y="87782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3000" b="1">
                <a:solidFill>
                  <a:srgbClr val="172B4D"/>
                </a:solidFill>
                <a:latin typeface="맑은 고딕"/>
                <a:ea typeface="맑은 고딕"/>
              </a:rPr>
              <a:t>법안을 읽고, 근거를 채워 비용추계 초안으로</a:t>
            </a:r>
            <a:endParaRPr lang="ko-KR" sz="3000"/>
          </a:p>
        </p:txBody>
      </p:sp>
      <p:sp>
        <p:nvSpPr>
          <p:cNvPr id="5" name="Text 5"/>
          <p:cNvSpPr txBox="1"/>
          <p:nvPr/>
        </p:nvSpPr>
        <p:spPr>
          <a:xfrm>
            <a:off x="594360" y="1536192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0">
                <a:solidFill>
                  <a:srgbClr val="66758A"/>
                </a:solidFill>
                <a:latin typeface="맑은 고딕"/>
                <a:ea typeface="맑은 고딕"/>
              </a:rPr>
              <a:t>비용 항목마다 계산 유형을 선택하고, 등록된 산식으로 계산합니다.</a:t>
            </a:r>
            <a:endParaRPr lang="ko-KR" sz="1600"/>
          </a:p>
        </p:txBody>
      </p:sp>
      <p:sp>
        <p:nvSpPr>
          <p:cNvPr id="6" name="Card 6"/>
          <p:cNvSpPr/>
          <p:nvPr/>
        </p:nvSpPr>
        <p:spPr>
          <a:xfrm>
            <a:off x="594360" y="2304288"/>
            <a:ext cx="2039112" cy="17556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758952" y="24597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01</a:t>
            </a:r>
            <a:endParaRPr lang="ko-KR" sz="1200"/>
          </a:p>
        </p:txBody>
      </p:sp>
      <p:sp>
        <p:nvSpPr>
          <p:cNvPr id="8" name="Text 8"/>
          <p:cNvSpPr txBox="1"/>
          <p:nvPr/>
        </p:nvSpPr>
        <p:spPr>
          <a:xfrm>
            <a:off x="758952" y="277977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900" b="1">
                <a:solidFill>
                  <a:srgbClr val="172B4D"/>
                </a:solidFill>
                <a:latin typeface="맑은 고딕"/>
                <a:ea typeface="맑은 고딕"/>
              </a:rPr>
              <a:t>법안 분석</a:t>
            </a:r>
            <a:endParaRPr lang="ko-KR" sz="1900"/>
          </a:p>
        </p:txBody>
      </p:sp>
      <p:sp>
        <p:nvSpPr>
          <p:cNvPr id="9" name="Text 9"/>
          <p:cNvSpPr txBox="1"/>
          <p:nvPr/>
        </p:nvSpPr>
        <p:spPr>
          <a:xfrm>
            <a:off x="758952" y="3255264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PDF에서 변경 내용과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비용 발생 항목 확인</a:t>
            </a:r>
            <a:endParaRPr lang="ko-KR" sz="1200"/>
          </a:p>
        </p:txBody>
      </p:sp>
      <p:sp>
        <p:nvSpPr>
          <p:cNvPr id="10" name="Text 10"/>
          <p:cNvSpPr txBox="1"/>
          <p:nvPr/>
        </p:nvSpPr>
        <p:spPr>
          <a:xfrm>
            <a:off x="594360" y="1993392"/>
            <a:ext cx="2039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66758A"/>
                </a:solidFill>
                <a:latin typeface="맑은 고딕"/>
                <a:ea typeface="맑은 고딕"/>
              </a:rPr>
              <a:t>AI</a:t>
            </a:r>
            <a:endParaRPr lang="ko-KR" sz="1100"/>
          </a:p>
        </p:txBody>
      </p:sp>
      <p:cxnSp>
        <p:nvCxnSpPr>
          <p:cNvPr id="11" name="Arrow 11"/>
          <p:cNvCxnSpPr/>
          <p:nvPr/>
        </p:nvCxnSpPr>
        <p:spPr>
          <a:xfrm>
            <a:off x="2679192" y="3172968"/>
            <a:ext cx="109728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2" name="Card 12"/>
          <p:cNvSpPr/>
          <p:nvPr/>
        </p:nvSpPr>
        <p:spPr>
          <a:xfrm>
            <a:off x="2834640" y="2304288"/>
            <a:ext cx="2039112" cy="17556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2999232" y="24597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02</a:t>
            </a:r>
            <a:endParaRPr lang="ko-KR" sz="1200"/>
          </a:p>
        </p:txBody>
      </p:sp>
      <p:sp>
        <p:nvSpPr>
          <p:cNvPr id="14" name="Text 14"/>
          <p:cNvSpPr txBox="1"/>
          <p:nvPr/>
        </p:nvSpPr>
        <p:spPr>
          <a:xfrm>
            <a:off x="2999232" y="277977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900" b="1">
                <a:solidFill>
                  <a:srgbClr val="172B4D"/>
                </a:solidFill>
                <a:latin typeface="맑은 고딕"/>
                <a:ea typeface="맑은 고딕"/>
              </a:rPr>
              <a:t>유형별 라우팅</a:t>
            </a:r>
            <a:endParaRPr lang="ko-KR" sz="1900"/>
          </a:p>
        </p:txBody>
      </p:sp>
      <p:sp>
        <p:nvSpPr>
          <p:cNvPr id="15" name="Text 15"/>
          <p:cNvSpPr txBox="1"/>
          <p:nvPr/>
        </p:nvSpPr>
        <p:spPr>
          <a:xfrm>
            <a:off x="2999232" y="3255264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비용 항목에 맞는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세부 계산 유형 선택</a:t>
            </a:r>
            <a:endParaRPr lang="ko-KR" sz="1200"/>
          </a:p>
        </p:txBody>
      </p:sp>
      <p:sp>
        <p:nvSpPr>
          <p:cNvPr id="16" name="Text 16"/>
          <p:cNvSpPr txBox="1"/>
          <p:nvPr/>
        </p:nvSpPr>
        <p:spPr>
          <a:xfrm>
            <a:off x="2834640" y="1993392"/>
            <a:ext cx="2039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66758A"/>
                </a:solidFill>
                <a:latin typeface="맑은 고딕"/>
                <a:ea typeface="맑은 고딕"/>
              </a:rPr>
              <a:t>AI</a:t>
            </a:r>
            <a:endParaRPr lang="ko-KR" sz="1100"/>
          </a:p>
        </p:txBody>
      </p:sp>
      <p:cxnSp>
        <p:nvCxnSpPr>
          <p:cNvPr id="17" name="Arrow 17"/>
          <p:cNvCxnSpPr/>
          <p:nvPr/>
        </p:nvCxnSpPr>
        <p:spPr>
          <a:xfrm>
            <a:off x="4919472" y="3172968"/>
            <a:ext cx="109728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18" name="Card 18"/>
          <p:cNvSpPr/>
          <p:nvPr/>
        </p:nvSpPr>
        <p:spPr>
          <a:xfrm>
            <a:off x="5074920" y="2304288"/>
            <a:ext cx="2039112" cy="17556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239512" y="24597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03</a:t>
            </a:r>
            <a:endParaRPr lang="ko-KR" sz="1200"/>
          </a:p>
        </p:txBody>
      </p:sp>
      <p:sp>
        <p:nvSpPr>
          <p:cNvPr id="20" name="Text 20"/>
          <p:cNvSpPr txBox="1"/>
          <p:nvPr/>
        </p:nvSpPr>
        <p:spPr>
          <a:xfrm>
            <a:off x="5239512" y="277977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900" b="1">
                <a:solidFill>
                  <a:srgbClr val="172B4D"/>
                </a:solidFill>
                <a:latin typeface="맑은 고딕"/>
                <a:ea typeface="맑은 고딕"/>
              </a:rPr>
              <a:t>산식·변수 적용</a:t>
            </a:r>
            <a:endParaRPr lang="ko-KR" sz="1900"/>
          </a:p>
        </p:txBody>
      </p:sp>
      <p:sp>
        <p:nvSpPr>
          <p:cNvPr id="21" name="Text 21"/>
          <p:cNvSpPr txBox="1"/>
          <p:nvPr/>
        </p:nvSpPr>
        <p:spPr>
          <a:xfrm>
            <a:off x="5239512" y="3255264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유형에 연결된 산식 적용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필요한 값과 근거 선택</a:t>
            </a:r>
            <a:endParaRPr lang="ko-KR" sz="1200"/>
          </a:p>
        </p:txBody>
      </p:sp>
      <p:sp>
        <p:nvSpPr>
          <p:cNvPr id="22" name="Text 22"/>
          <p:cNvSpPr txBox="1"/>
          <p:nvPr/>
        </p:nvSpPr>
        <p:spPr>
          <a:xfrm>
            <a:off x="5074920" y="1993392"/>
            <a:ext cx="2039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66758A"/>
                </a:solidFill>
                <a:latin typeface="맑은 고딕"/>
                <a:ea typeface="맑은 고딕"/>
              </a:rPr>
              <a:t>등록 산식 + AI</a:t>
            </a:r>
            <a:endParaRPr lang="ko-KR" sz="1100"/>
          </a:p>
        </p:txBody>
      </p:sp>
      <p:cxnSp>
        <p:nvCxnSpPr>
          <p:cNvPr id="23" name="Arrow 23"/>
          <p:cNvCxnSpPr/>
          <p:nvPr/>
        </p:nvCxnSpPr>
        <p:spPr>
          <a:xfrm>
            <a:off x="7159752" y="3172968"/>
            <a:ext cx="109728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24" name="Card 24"/>
          <p:cNvSpPr/>
          <p:nvPr/>
        </p:nvSpPr>
        <p:spPr>
          <a:xfrm>
            <a:off x="7315200" y="2304288"/>
            <a:ext cx="2039112" cy="1755648"/>
          </a:xfrm>
          <a:prstGeom prst="roundRect">
            <a:avLst/>
          </a:prstGeom>
          <a:solidFill>
            <a:srgbClr val="F2F6FC"/>
          </a:solidFill>
          <a:ln w="9525"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7479792" y="24597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3978E8"/>
                </a:solidFill>
                <a:latin typeface="맑은 고딕"/>
                <a:ea typeface="맑은 고딕"/>
              </a:rPr>
              <a:t>04</a:t>
            </a:r>
            <a:endParaRPr lang="ko-KR" sz="1200"/>
          </a:p>
        </p:txBody>
      </p:sp>
      <p:sp>
        <p:nvSpPr>
          <p:cNvPr id="26" name="Text 26"/>
          <p:cNvSpPr txBox="1"/>
          <p:nvPr/>
        </p:nvSpPr>
        <p:spPr>
          <a:xfrm>
            <a:off x="7479792" y="277977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900" b="1">
                <a:solidFill>
                  <a:srgbClr val="172B4D"/>
                </a:solidFill>
                <a:latin typeface="맑은 고딕"/>
                <a:ea typeface="맑은 고딕"/>
              </a:rPr>
              <a:t>금액 계산</a:t>
            </a:r>
            <a:endParaRPr lang="ko-KR" sz="1900"/>
          </a:p>
        </p:txBody>
      </p:sp>
      <p:sp>
        <p:nvSpPr>
          <p:cNvPr id="27" name="Text 27"/>
          <p:cNvSpPr txBox="1"/>
          <p:nvPr/>
        </p:nvSpPr>
        <p:spPr>
          <a:xfrm>
            <a:off x="7479792" y="3255264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연도별 비용 계산</a:t>
            </a:r>
            <a:endParaRPr lang="ko-KR" sz="1200"/>
          </a:p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항목별 결과 합산</a:t>
            </a:r>
            <a:endParaRPr lang="ko-KR" sz="1200"/>
          </a:p>
        </p:txBody>
      </p:sp>
      <p:sp>
        <p:nvSpPr>
          <p:cNvPr id="28" name="Text 28"/>
          <p:cNvSpPr txBox="1"/>
          <p:nvPr/>
        </p:nvSpPr>
        <p:spPr>
          <a:xfrm>
            <a:off x="7315200" y="1993392"/>
            <a:ext cx="2039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66758A"/>
                </a:solidFill>
                <a:latin typeface="맑은 고딕"/>
                <a:ea typeface="맑은 고딕"/>
              </a:rPr>
              <a:t>Python</a:t>
            </a:r>
            <a:endParaRPr lang="ko-KR" sz="1100"/>
          </a:p>
        </p:txBody>
      </p:sp>
      <p:cxnSp>
        <p:nvCxnSpPr>
          <p:cNvPr id="29" name="Arrow 29"/>
          <p:cNvCxnSpPr/>
          <p:nvPr/>
        </p:nvCxnSpPr>
        <p:spPr>
          <a:xfrm>
            <a:off x="9400032" y="3172968"/>
            <a:ext cx="109728" cy="0"/>
          </a:xfrm>
          <a:prstGeom prst="line">
            <a:avLst/>
          </a:prstGeom>
          <a:ln w="19050">
            <a:solidFill>
              <a:srgbClr val="AAB9CC"/>
            </a:solidFill>
            <a:tailEnd type="triangle" w="sm" len="sm"/>
          </a:ln>
        </p:spPr>
      </p:cxnSp>
      <p:sp>
        <p:nvSpPr>
          <p:cNvPr id="30" name="Card 30"/>
          <p:cNvSpPr/>
          <p:nvPr/>
        </p:nvSpPr>
        <p:spPr>
          <a:xfrm>
            <a:off x="9555480" y="2304288"/>
            <a:ext cx="2039112" cy="1755648"/>
          </a:xfrm>
          <a:prstGeom prst="roundRect">
            <a:avLst/>
          </a:prstGeom>
          <a:solidFill>
            <a:srgbClr val="347EF2"/>
          </a:solidFill>
          <a:ln w="9525"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9720072" y="24597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  <a:endParaRPr lang="ko-KR" sz="1200"/>
          </a:p>
        </p:txBody>
      </p:sp>
      <p:sp>
        <p:nvSpPr>
          <p:cNvPr id="32" name="Text 32"/>
          <p:cNvSpPr txBox="1"/>
          <p:nvPr/>
        </p:nvSpPr>
        <p:spPr>
          <a:xfrm>
            <a:off x="9720072" y="277977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900" b="1">
                <a:solidFill>
                  <a:srgbClr val="FFFFFF"/>
                </a:solidFill>
                <a:latin typeface="맑은 고딕"/>
                <a:ea typeface="맑은 고딕"/>
              </a:rPr>
              <a:t>초안 생성</a:t>
            </a:r>
            <a:endParaRPr lang="ko-KR" sz="1900"/>
          </a:p>
        </p:txBody>
      </p:sp>
      <p:sp>
        <p:nvSpPr>
          <p:cNvPr id="33" name="Text 33"/>
          <p:cNvSpPr txBox="1"/>
          <p:nvPr/>
        </p:nvSpPr>
        <p:spPr>
          <a:xfrm>
            <a:off x="9720072" y="3255264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FFFFFF"/>
                </a:solidFill>
                <a:latin typeface="맑은 고딕"/>
                <a:ea typeface="맑은 고딕"/>
              </a:rPr>
              <a:t>가정·근거·계산 내역을</a:t>
            </a:r>
            <a:endParaRPr lang="ko-KR" sz="1200"/>
          </a:p>
          <a:p>
            <a:pPr algn="l"/>
            <a:r>
              <a:rPr lang="ko-KR" sz="1200" b="0">
                <a:solidFill>
                  <a:srgbClr val="FFFFFF"/>
                </a:solidFill>
                <a:latin typeface="맑은 고딕"/>
                <a:ea typeface="맑은 고딕"/>
              </a:rPr>
              <a:t>비용추계서와 PDF로</a:t>
            </a:r>
            <a:endParaRPr lang="ko-KR" sz="1200"/>
          </a:p>
        </p:txBody>
      </p:sp>
      <p:sp>
        <p:nvSpPr>
          <p:cNvPr id="34" name="Text 34"/>
          <p:cNvSpPr txBox="1"/>
          <p:nvPr/>
        </p:nvSpPr>
        <p:spPr>
          <a:xfrm>
            <a:off x="9555480" y="1993392"/>
            <a:ext cx="2039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66758A"/>
                </a:solidFill>
                <a:latin typeface="맑은 고딕"/>
                <a:ea typeface="맑은 고딕"/>
              </a:rPr>
              <a:t>문서 출력</a:t>
            </a:r>
            <a:endParaRPr lang="ko-KR" sz="1100"/>
          </a:p>
        </p:txBody>
      </p:sp>
      <p:sp>
        <p:nvSpPr>
          <p:cNvPr id="35" name="Card 35"/>
          <p:cNvSpPr/>
          <p:nvPr/>
        </p:nvSpPr>
        <p:spPr>
          <a:xfrm>
            <a:off x="594360" y="4462272"/>
            <a:ext cx="5504688" cy="1554480"/>
          </a:xfrm>
          <a:prstGeom prst="roundRect">
            <a:avLst/>
          </a:prstGeom>
          <a:solidFill>
            <a:srgbClr val="F7F9FC"/>
          </a:solidFill>
          <a:ln w="9525">
            <a:solidFill>
              <a:srgbClr val="E6ECF4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804672" y="463600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라우팅 기준 · 비용의 성격</a:t>
            </a:r>
            <a:endParaRPr lang="ko-KR" sz="1600"/>
          </a:p>
        </p:txBody>
      </p:sp>
      <p:sp>
        <p:nvSpPr>
          <p:cNvPr id="37" name="Card 37"/>
          <p:cNvSpPr/>
          <p:nvPr/>
        </p:nvSpPr>
        <p:spPr>
          <a:xfrm>
            <a:off x="804672" y="5093208"/>
            <a:ext cx="941832" cy="310896"/>
          </a:xfrm>
          <a:prstGeom prst="roundRect">
            <a:avLst/>
          </a:prstGeom>
          <a:solidFill>
            <a:srgbClr val="E8F0FE"/>
          </a:solidFill>
          <a:ln w="9525"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04672" y="5129784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2862B6"/>
                </a:solidFill>
                <a:latin typeface="맑은 고딕"/>
                <a:ea typeface="맑은 고딕"/>
              </a:rPr>
              <a:t>인건비</a:t>
            </a:r>
            <a:endParaRPr lang="ko-KR" sz="1100"/>
          </a:p>
        </p:txBody>
      </p:sp>
      <p:sp>
        <p:nvSpPr>
          <p:cNvPr id="39" name="Card 39"/>
          <p:cNvSpPr/>
          <p:nvPr/>
        </p:nvSpPr>
        <p:spPr>
          <a:xfrm>
            <a:off x="1865376" y="5093208"/>
            <a:ext cx="941832" cy="310896"/>
          </a:xfrm>
          <a:prstGeom prst="roundRect">
            <a:avLst/>
          </a:prstGeom>
          <a:solidFill>
            <a:srgbClr val="E8F0FE"/>
          </a:solidFill>
          <a:ln w="9525"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1865376" y="5129784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2862B6"/>
                </a:solidFill>
                <a:latin typeface="맑은 고딕"/>
                <a:ea typeface="맑은 고딕"/>
              </a:rPr>
              <a:t>물건비</a:t>
            </a:r>
            <a:endParaRPr lang="ko-KR" sz="1100"/>
          </a:p>
        </p:txBody>
      </p:sp>
      <p:sp>
        <p:nvSpPr>
          <p:cNvPr id="41" name="Card 41"/>
          <p:cNvSpPr/>
          <p:nvPr/>
        </p:nvSpPr>
        <p:spPr>
          <a:xfrm>
            <a:off x="2926080" y="5093208"/>
            <a:ext cx="1133856" cy="310896"/>
          </a:xfrm>
          <a:prstGeom prst="roundRect">
            <a:avLst/>
          </a:prstGeom>
          <a:solidFill>
            <a:srgbClr val="E8F0FE"/>
          </a:solidFill>
          <a:ln w="9525"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2926080" y="5129784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2862B6"/>
                </a:solidFill>
                <a:latin typeface="맑은 고딕"/>
                <a:ea typeface="맑은 고딕"/>
              </a:rPr>
              <a:t>이전지출</a:t>
            </a:r>
            <a:endParaRPr lang="ko-KR" sz="1100"/>
          </a:p>
        </p:txBody>
      </p:sp>
      <p:sp>
        <p:nvSpPr>
          <p:cNvPr id="43" name="Card 43"/>
          <p:cNvSpPr/>
          <p:nvPr/>
        </p:nvSpPr>
        <p:spPr>
          <a:xfrm>
            <a:off x="4178808" y="5093208"/>
            <a:ext cx="1133856" cy="310896"/>
          </a:xfrm>
          <a:prstGeom prst="roundRect">
            <a:avLst/>
          </a:prstGeom>
          <a:solidFill>
            <a:srgbClr val="E8F0FE"/>
          </a:solidFill>
          <a:ln w="9525"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4178808" y="5129784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sz="1100" b="0">
                <a:solidFill>
                  <a:srgbClr val="2862B6"/>
                </a:solidFill>
                <a:latin typeface="맑은 고딕"/>
                <a:ea typeface="맑은 고딕"/>
              </a:rPr>
              <a:t>자본지출</a:t>
            </a:r>
            <a:endParaRPr lang="ko-KR" sz="1100"/>
          </a:p>
        </p:txBody>
      </p:sp>
      <p:sp>
        <p:nvSpPr>
          <p:cNvPr id="45" name="Text 45"/>
          <p:cNvSpPr txBox="1"/>
          <p:nvPr/>
        </p:nvSpPr>
        <p:spPr>
          <a:xfrm>
            <a:off x="804672" y="5559552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53657D"/>
                </a:solidFill>
                <a:latin typeface="맑은 고딕"/>
                <a:ea typeface="맑은 고딕"/>
              </a:rPr>
              <a:t>조세감면  ·  세외수입 감소  ·  출자출연</a:t>
            </a:r>
            <a:endParaRPr lang="ko-KR" sz="1200"/>
          </a:p>
        </p:txBody>
      </p:sp>
      <p:sp>
        <p:nvSpPr>
          <p:cNvPr id="46" name="Card 46"/>
          <p:cNvSpPr/>
          <p:nvPr/>
        </p:nvSpPr>
        <p:spPr>
          <a:xfrm>
            <a:off x="6309360" y="4462272"/>
            <a:ext cx="5285232" cy="1554480"/>
          </a:xfrm>
          <a:prstGeom prst="roundRect">
            <a:avLst/>
          </a:prstGeom>
          <a:solidFill>
            <a:srgbClr val="F7F9FC"/>
          </a:solidFill>
          <a:ln w="9525">
            <a:solidFill>
              <a:srgbClr val="E6ECF4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6519672" y="4636008"/>
            <a:ext cx="4864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72B4D"/>
                </a:solidFill>
                <a:latin typeface="맑은 고딕"/>
                <a:ea typeface="맑은 고딕"/>
              </a:rPr>
              <a:t>값 채우기 · 근거가 있는 값부터</a:t>
            </a:r>
            <a:endParaRPr lang="ko-KR" sz="1600"/>
          </a:p>
        </p:txBody>
      </p:sp>
      <p:sp>
        <p:nvSpPr>
          <p:cNvPr id="48" name="Text 48"/>
          <p:cNvSpPr txBox="1"/>
          <p:nvPr/>
        </p:nvSpPr>
        <p:spPr>
          <a:xfrm>
            <a:off x="6519672" y="5093208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400" b="1">
                <a:solidFill>
                  <a:srgbClr val="2862B6"/>
                </a:solidFill>
                <a:latin typeface="맑은 고딕"/>
                <a:ea typeface="맑은 고딕"/>
              </a:rPr>
              <a:t>법안 명시값  →  공식 단가  →  유사 사례</a:t>
            </a:r>
            <a:endParaRPr lang="ko-KR" sz="1400"/>
          </a:p>
        </p:txBody>
      </p:sp>
      <p:sp>
        <p:nvSpPr>
          <p:cNvPr id="49" name="Text 49"/>
          <p:cNvSpPr txBox="1"/>
          <p:nvPr/>
        </p:nvSpPr>
        <p:spPr>
          <a:xfrm>
            <a:off x="6519672" y="5541264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100" b="0">
                <a:solidFill>
                  <a:srgbClr val="53657D"/>
                </a:solidFill>
                <a:latin typeface="맑은 고딕"/>
                <a:ea typeface="맑은 고딕"/>
              </a:rPr>
              <a:t>부족한 값은 후보와 근거를 제시하고 사용자가 확인</a:t>
            </a:r>
            <a:endParaRPr lang="ko-KR" sz="1100"/>
          </a:p>
        </p:txBody>
      </p:sp>
      <p:sp>
        <p:nvSpPr>
          <p:cNvPr id="50" name="Text 50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b="0">
                <a:solidFill>
                  <a:srgbClr val="66758A"/>
                </a:solidFill>
                <a:latin typeface="맑은 고딕"/>
                <a:ea typeface="맑은 고딕"/>
              </a:rPr>
              <a:t>한 법안에 여러 비용 유형이 있으면 항목별로 라우팅하여 계산합니다.</a:t>
            </a:r>
            <a:endParaRPr lang="ko-KR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CE">
  <a:themeElements>
    <a:clrScheme name="ERCE">
      <a:dk1>
        <a:srgbClr val="172B4D"/>
      </a:dk1>
      <a:lt1>
        <a:srgbClr val="FFFFFF"/>
      </a:lt1>
      <a:dk2>
        <a:srgbClr val="53657D"/>
      </a:dk2>
      <a:lt2>
        <a:srgbClr val="F7F9FC"/>
      </a:lt2>
      <a:accent1>
        <a:srgbClr val="347EF2"/>
      </a:accent1>
      <a:accent2>
        <a:srgbClr val="66A4FF"/>
      </a:accent2>
      <a:accent3>
        <a:srgbClr val="8299B7"/>
      </a:accent3>
      <a:accent4>
        <a:srgbClr val="D8E5F8"/>
      </a:accent4>
      <a:accent5>
        <a:srgbClr val="7AC5B7"/>
      </a:accent5>
      <a:accent6>
        <a:srgbClr val="D6AC7F"/>
      </a:accent6>
      <a:hlink>
        <a:srgbClr val="347EF2"/>
      </a:hlink>
      <a:folHlink>
        <a:srgbClr val="5F57AE"/>
      </a:folHlink>
    </a:clrScheme>
    <a:fontScheme name="Korean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